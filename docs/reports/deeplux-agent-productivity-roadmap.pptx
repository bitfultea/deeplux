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icrosoft YaHei"/>
              </a:rPr>
              <a:t>LLM + Agent 的应用场景：把软件从“工具”升级为“协作者”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789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重点不是让模型替人点击，而是缩短理解、配置、调试、交付的闭环时间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55680" cy="152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3737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</a:rPr>
              <a:t>1/2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Microsoft YaHei"/>
              </a:rPr>
              <a:t>生产力提升主线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57400"/>
            <a:ext cx="141732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"/>
              </a:rPr>
              <a:t>理解需求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95144" y="2322576"/>
            <a:ext cx="365760" cy="0"/>
          </a:xfrm>
          <a:prstGeom prst="line">
            <a:avLst/>
          </a:prstGeom>
          <a:ln w="1778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34640" y="2057400"/>
            <a:ext cx="1417320" cy="530352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"/>
              </a:rPr>
              <a:t>生成方案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61104" y="2322576"/>
            <a:ext cx="365760" cy="0"/>
          </a:xfrm>
          <a:prstGeom prst="line">
            <a:avLst/>
          </a:prstGeom>
          <a:ln w="1778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800600" y="2057400"/>
            <a:ext cx="1417320" cy="53035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"/>
              </a:rPr>
              <a:t>执行工具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227064" y="2322576"/>
            <a:ext cx="365760" cy="0"/>
          </a:xfrm>
          <a:prstGeom prst="line">
            <a:avLst/>
          </a:prstGeom>
          <a:ln w="1778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766560" y="2057400"/>
            <a:ext cx="1417320" cy="530352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"/>
              </a:rPr>
              <a:t>验证结果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193024" y="2322576"/>
            <a:ext cx="365760" cy="0"/>
          </a:xfrm>
          <a:prstGeom prst="line">
            <a:avLst/>
          </a:prstGeom>
          <a:ln w="1778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732520" y="2057400"/>
            <a:ext cx="1417320" cy="5303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"/>
              </a:rPr>
              <a:t>沉淀知识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1508760" y="2651760"/>
            <a:ext cx="7955280" cy="0"/>
          </a:xfrm>
          <a:prstGeom prst="line">
            <a:avLst/>
          </a:prstGeom>
          <a:ln w="177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22960" y="2880360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4748B"/>
                </a:solidFill>
                <a:latin typeface="Microsoft YaHei"/>
              </a:rPr>
              <a:t>适合 DeepLux 这类专业软件的四类场景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337560"/>
            <a:ext cx="26517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337560"/>
            <a:ext cx="50800" cy="1600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" y="3483864"/>
            <a:ext cx="22677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YaHei"/>
              </a:rPr>
              <a:t>1. 新手上手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3813048"/>
            <a:ext cx="2267712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F2937"/>
                </a:solidFill>
                <a:latin typeface="Microsoft YaHei"/>
              </a:defRPr>
            </a:pPr>
            <a:r>
              <a:t>自然语言解释插件、参数和流程</a:t>
            </a:r>
          </a:p>
          <a:p>
            <a:pPr>
              <a:spcAft>
                <a:spcPts val="300"/>
              </a:spcAft>
              <a:defRPr sz="1150">
                <a:solidFill>
                  <a:srgbClr val="1F2937"/>
                </a:solidFill>
                <a:latin typeface="Microsoft YaHei"/>
              </a:defRPr>
            </a:pPr>
            <a:r>
              <a:t>把操作经验转成可复用指引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66160" y="3337560"/>
            <a:ext cx="26517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566160" y="3337560"/>
            <a:ext cx="50800" cy="1600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85616" y="3483864"/>
            <a:ext cx="22677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YaHei"/>
              </a:rPr>
              <a:t>2. 流程搭建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85616" y="3813048"/>
            <a:ext cx="2267712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F2937"/>
                </a:solidFill>
                <a:latin typeface="Microsoft YaHei"/>
              </a:defRPr>
            </a:pPr>
            <a:r>
              <a:t>根据目标推荐模块组合</a:t>
            </a:r>
          </a:p>
          <a:p>
            <a:pPr>
              <a:spcAft>
                <a:spcPts val="300"/>
              </a:spcAft>
              <a:defRPr sz="1150">
                <a:solidFill>
                  <a:srgbClr val="1F2937"/>
                </a:solidFill>
                <a:latin typeface="Microsoft YaHei"/>
              </a:defRPr>
            </a:pPr>
            <a:r>
              <a:t>生成配置草案，用户确认后执行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3337560"/>
            <a:ext cx="26517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0" y="3337560"/>
            <a:ext cx="50800" cy="16002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0256" y="3483864"/>
            <a:ext cx="22677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YaHei"/>
              </a:rPr>
              <a:t>3. 调试诊断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0256" y="3813048"/>
            <a:ext cx="2267712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F2937"/>
                </a:solidFill>
                <a:latin typeface="Microsoft YaHei"/>
              </a:defRPr>
            </a:pPr>
            <a:r>
              <a:t>读取日志、运行结果和 GUI 状态</a:t>
            </a:r>
          </a:p>
          <a:p>
            <a:pPr>
              <a:spcAft>
                <a:spcPts val="300"/>
              </a:spcAft>
              <a:defRPr sz="1150">
                <a:solidFill>
                  <a:srgbClr val="1F2937"/>
                </a:solidFill>
                <a:latin typeface="Microsoft YaHei"/>
              </a:defRPr>
            </a:pPr>
            <a:r>
              <a:t>定位失败原因并给修复路径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35440" y="3337560"/>
            <a:ext cx="22402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235440" y="3337560"/>
            <a:ext cx="50800" cy="1600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54896" y="3483864"/>
            <a:ext cx="1856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YaHei"/>
              </a:rPr>
              <a:t>4. 交付复盘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54896" y="3813048"/>
            <a:ext cx="1856232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F2937"/>
                </a:solidFill>
                <a:latin typeface="Microsoft YaHei"/>
              </a:defRPr>
            </a:pPr>
            <a:r>
              <a:t>自动生成测试说明、变更摘要、汇报材料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349240"/>
            <a:ext cx="1074420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" y="5349240"/>
            <a:ext cx="50800" cy="69494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0976" y="5495544"/>
            <a:ext cx="10360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YaHei"/>
              </a:rPr>
              <a:t>价值判断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0976" y="5824728"/>
            <a:ext cx="1036015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F2937"/>
                </a:solidFill>
                <a:latin typeface="Microsoft YaHei"/>
              </a:defRPr>
            </a:pPr>
            <a:r>
              <a:t>把工程师从“查文档、找按钮、手工复盘”里释放出来；模型负责理解和建议，Agent 负责受控执行，人保留最终确认权。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icrosoft YaHei"/>
              </a:rPr>
              <a:t>技术实践路线：从 Copilot 到可审计的生产力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789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路线选择：先把工具边界做窄、做稳，再逐步扩大自动化半径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55680" cy="152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3737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</a:rPr>
              <a:t>2/2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81328"/>
            <a:ext cx="416052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481328"/>
            <a:ext cx="50800" cy="8961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" y="1627632"/>
            <a:ext cx="3776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YaHei"/>
              </a:rPr>
              <a:t>A. 知识层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" y="1956816"/>
            <a:ext cx="3776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F2937"/>
                </a:solidFill>
                <a:latin typeface="Microsoft YaHei"/>
              </a:defRPr>
            </a:pPr>
            <a:r>
              <a:t>代码、文档、插件清单、运行日志、项目状态作为上下文。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560320"/>
            <a:ext cx="416052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560320"/>
            <a:ext cx="50800" cy="89611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2706624"/>
            <a:ext cx="3776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YaHei"/>
              </a:rPr>
              <a:t>B. 推理层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035808"/>
            <a:ext cx="3776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F2937"/>
                </a:solidFill>
                <a:latin typeface="Microsoft YaHei"/>
              </a:defRPr>
            </a:pPr>
            <a:r>
              <a:t>LLM 负责理解意图、生成方案、解释失败原因。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639312"/>
            <a:ext cx="416052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639312"/>
            <a:ext cx="50800" cy="89611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6696" y="3785616"/>
            <a:ext cx="3776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YaHei"/>
              </a:rPr>
              <a:t>C. Agent 编排层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" y="4114800"/>
            <a:ext cx="3776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F2937"/>
                </a:solidFill>
                <a:latin typeface="Microsoft YaHei"/>
              </a:defRPr>
            </a:pPr>
            <a:r>
              <a:t>状态机、权限、确认、循环上限、失败处理。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718304"/>
            <a:ext cx="416052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4718304"/>
            <a:ext cx="50800" cy="89611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696" y="4864608"/>
            <a:ext cx="3776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YaHei"/>
              </a:rPr>
              <a:t>D. 工具执行层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" y="5193792"/>
            <a:ext cx="3776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F2937"/>
                </a:solidFill>
                <a:latin typeface="Microsoft YaHei"/>
              </a:defRPr>
            </a:pPr>
            <a:r>
              <a:t>白名单 tool_call 调用 DeepLux 内部能力，不接任意 shell。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14173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Microsoft YaHei"/>
              </a:rPr>
              <a:t>分阶段落地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32120" y="1920240"/>
            <a:ext cx="1051560" cy="43891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60" b="1">
                <a:solidFill>
                  <a:srgbClr val="FFFFFF"/>
                </a:solidFill>
                <a:latin typeface="Microsoft YaHei"/>
              </a:rPr>
              <a:t>阶段 1
助手化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1901952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F2937"/>
                </a:solidFill>
                <a:latin typeface="Microsoft YaHei"/>
              </a:rPr>
              <a:t>问答、解释、代码/文档理解
收益：降低学习成本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53328" y="2377440"/>
            <a:ext cx="0" cy="265176"/>
          </a:xfrm>
          <a:prstGeom prst="line">
            <a:avLst/>
          </a:prstGeom>
          <a:ln w="177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532120" y="2706624"/>
            <a:ext cx="1051560" cy="43891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60" b="1">
                <a:solidFill>
                  <a:srgbClr val="FFFFFF"/>
                </a:solidFill>
                <a:latin typeface="Microsoft YaHei"/>
              </a:rPr>
              <a:t>阶段 2
工具化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2688336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F2937"/>
                </a:solidFill>
                <a:latin typeface="Microsoft YaHei"/>
              </a:rPr>
              <a:t>白名单工具、参数校验、人工确认
收益：减少重复配置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053328" y="3163824"/>
            <a:ext cx="0" cy="265176"/>
          </a:xfrm>
          <a:prstGeom prst="line">
            <a:avLst/>
          </a:prstGeom>
          <a:ln w="177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532120" y="3493008"/>
            <a:ext cx="1051560" cy="438912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60" b="1">
                <a:solidFill>
                  <a:srgbClr val="FFFFFF"/>
                </a:solidFill>
                <a:latin typeface="Microsoft YaHei"/>
              </a:rPr>
              <a:t>阶段 3
流程化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347472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F2937"/>
                </a:solidFill>
                <a:latin typeface="Microsoft YaHei"/>
              </a:rPr>
              <a:t>自动生成方案、运行测试、复盘报告
收益：缩短交付闭环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053328" y="3950208"/>
            <a:ext cx="0" cy="265176"/>
          </a:xfrm>
          <a:prstGeom prst="line">
            <a:avLst/>
          </a:prstGeom>
          <a:ln w="177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532120" y="4279392"/>
            <a:ext cx="1051560" cy="43891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60" b="1">
                <a:solidFill>
                  <a:srgbClr val="FFFFFF"/>
                </a:solidFill>
                <a:latin typeface="Microsoft YaHei"/>
              </a:rPr>
              <a:t>阶段 4
组织化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4261104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1F2937"/>
                </a:solidFill>
                <a:latin typeface="Microsoft YaHei"/>
              </a:rPr>
              <a:t>沉淀知识库、评测集、权限策略
收益：经验可复制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0" y="5440680"/>
            <a:ext cx="56235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0" y="5440680"/>
            <a:ext cx="50800" cy="7498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05856" y="5586984"/>
            <a:ext cx="5239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YaHei"/>
              </a:rPr>
              <a:t>实践底线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05856" y="5916168"/>
            <a:ext cx="52395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F2937"/>
                </a:solidFill>
                <a:latin typeface="Microsoft YaHei"/>
              </a:defRPr>
            </a:pPr>
            <a:r>
              <a:t>不用 LLM 直接操作生产环境；先确认、可撤销、可审计，再谈自动化。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