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84048"/>
            <a:ext cx="1417320" cy="256032"/>
          </a:xfrm>
          <a:prstGeom prst="roundRect">
            <a:avLst/>
          </a:prstGeom>
          <a:solidFill>
            <a:srgbClr val="08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产业判断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8778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Microsoft YaHei"/>
              </a:rPr>
              <a:t>LLM Agent 的价值，不是“会聊天”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98448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87C"/>
                </a:solidFill>
                <a:latin typeface="Microsoft YaHei"/>
              </a:rPr>
              <a:t>它压缩的是专业软件的生产循环：找入口、配参数、跑验证、写复盘。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38912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87C"/>
                </a:solidFill>
                <a:latin typeface="Microsoft YaHei"/>
              </a:rPr>
              <a:t>1/2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47088"/>
            <a:ext cx="3913632" cy="3611880"/>
          </a:xfrm>
          <a:prstGeom prst="rect">
            <a:avLst/>
          </a:prstGeom>
          <a:solidFill>
            <a:srgbClr val="08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103120"/>
            <a:ext cx="3273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核心判断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596896"/>
            <a:ext cx="3273552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效率提升来自闭环变短。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人做判断。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Agent 做低价值操作。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系统留下证据。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367528"/>
            <a:ext cx="391363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83480" y="1901952"/>
            <a:ext cx="960120" cy="256032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理解意图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61888" y="2029968"/>
            <a:ext cx="173736" cy="0"/>
          </a:xfrm>
          <a:prstGeom prst="line">
            <a:avLst/>
          </a:prstGeom>
          <a:ln w="17780">
            <a:solidFill>
              <a:srgbClr val="D2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27064" y="1901952"/>
            <a:ext cx="960120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生成方案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05472" y="2029968"/>
            <a:ext cx="173736" cy="0"/>
          </a:xfrm>
          <a:prstGeom prst="line">
            <a:avLst/>
          </a:prstGeom>
          <a:ln w="17780">
            <a:solidFill>
              <a:srgbClr val="D2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70648" y="1901952"/>
            <a:ext cx="960120" cy="25603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调用工具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49056" y="2029968"/>
            <a:ext cx="173736" cy="0"/>
          </a:xfrm>
          <a:prstGeom prst="line">
            <a:avLst/>
          </a:prstGeom>
          <a:ln w="17780">
            <a:solidFill>
              <a:srgbClr val="D2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714232" y="1901952"/>
            <a:ext cx="960120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验证结果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92640" y="2029968"/>
            <a:ext cx="173736" cy="0"/>
          </a:xfrm>
          <a:prstGeom prst="line">
            <a:avLst/>
          </a:prstGeom>
          <a:ln w="17780">
            <a:solidFill>
              <a:srgbClr val="D2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957816" y="1901952"/>
            <a:ext cx="960120" cy="256032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沉淀经验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83480" y="2487168"/>
            <a:ext cx="290779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83480" y="2487168"/>
            <a:ext cx="57150" cy="107899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02936" y="263347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663EB"/>
                </a:solidFill>
                <a:latin typeface="Microsoft YaHe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2606040"/>
            <a:ext cx="18562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1. 上手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2936" y="3017520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334155"/>
                </a:solidFill>
                <a:latin typeface="Microsoft YaHei"/>
              </a:defRPr>
            </a:pPr>
            <a:r>
              <a:t>问插件、问参数、问路径。</a:t>
            </a:r>
          </a:p>
          <a:p>
            <a:pPr>
              <a:spcAft>
                <a:spcPts val="200"/>
              </a:spcAft>
              <a:defRPr sz="1120">
                <a:solidFill>
                  <a:srgbClr val="334155"/>
                </a:solidFill>
                <a:latin typeface="Microsoft YaHei"/>
              </a:defRPr>
            </a:pPr>
            <a:r>
              <a:t>减少“翻文档 + 找按钮”。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2487168"/>
            <a:ext cx="290779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79" y="2487168"/>
            <a:ext cx="57150" cy="10789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3335" y="263347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6A34A"/>
                </a:solidFill>
                <a:latin typeface="Microsoft YaHe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59" y="2606040"/>
            <a:ext cx="18562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2. 搭流程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3335" y="3017520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334155"/>
                </a:solidFill>
                <a:latin typeface="Microsoft YaHei"/>
              </a:defRPr>
            </a:pPr>
            <a:r>
              <a:t>把业务目标翻成模块组合。</a:t>
            </a:r>
          </a:p>
          <a:p>
            <a:pPr>
              <a:spcAft>
                <a:spcPts val="200"/>
              </a:spcAft>
              <a:defRPr sz="1120">
                <a:solidFill>
                  <a:srgbClr val="334155"/>
                </a:solidFill>
                <a:latin typeface="Microsoft YaHei"/>
              </a:defRPr>
            </a:pPr>
            <a:r>
              <a:t>写操作先给预览。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83480" y="3822191"/>
            <a:ext cx="290779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83480" y="3822191"/>
            <a:ext cx="57150" cy="10789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02936" y="3968495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D97706"/>
                </a:solidFill>
                <a:latin typeface="Microsoft YaHei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3941063"/>
            <a:ext cx="18562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3. 查问题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02936" y="4352543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334155"/>
                </a:solidFill>
                <a:latin typeface="Microsoft YaHei"/>
              </a:defRPr>
            </a:pPr>
            <a:r>
              <a:t>读日志、看状态、定位失败点。</a:t>
            </a:r>
          </a:p>
          <a:p>
            <a:pPr>
              <a:spcAft>
                <a:spcPts val="200"/>
              </a:spcAft>
              <a:defRPr sz="1120">
                <a:solidFill>
                  <a:srgbClr val="334155"/>
                </a:solidFill>
                <a:latin typeface="Microsoft YaHei"/>
              </a:defRPr>
            </a:pPr>
            <a:r>
              <a:t>给下一步，不甩长文档。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79" y="3822191"/>
            <a:ext cx="290779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83879" y="3822191"/>
            <a:ext cx="57150" cy="107899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03335" y="3968495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6D28D9"/>
                </a:solidFill>
                <a:latin typeface="Microsoft YaHei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59" y="3941063"/>
            <a:ext cx="18562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4. 写复盘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03335" y="4352543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334155"/>
                </a:solidFill>
                <a:latin typeface="Microsoft YaHei"/>
              </a:defRPr>
            </a:pPr>
            <a:r>
              <a:t>自动整理测试、变更、风险。</a:t>
            </a:r>
          </a:p>
          <a:p>
            <a:pPr>
              <a:spcAft>
                <a:spcPts val="200"/>
              </a:spcAft>
              <a:defRPr sz="1120">
                <a:solidFill>
                  <a:srgbClr val="334155"/>
                </a:solidFill>
                <a:latin typeface="Microsoft YaHei"/>
              </a:defRPr>
            </a:pPr>
            <a:r>
              <a:t>经验进入下一次交付。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83480" y="5276088"/>
            <a:ext cx="610819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983480" y="5276088"/>
            <a:ext cx="57150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02936" y="5394960"/>
            <a:ext cx="57058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对企业的直接意义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02936" y="5806440"/>
            <a:ext cx="5705856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334155"/>
                </a:solidFill>
                <a:latin typeface="Microsoft YaHei"/>
              </a:defRPr>
            </a:pPr>
            <a:r>
              <a:t>减少专家时间被重复问题占用；把个人经验变成系统能力；缩短从想法到验证的路径。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84048"/>
            <a:ext cx="1417320" cy="256032"/>
          </a:xfrm>
          <a:prstGeom prst="roundRect">
            <a:avLst/>
          </a:prstGeom>
          <a:solidFill>
            <a:srgbClr val="08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实践路线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8778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Microsoft YaHei"/>
              </a:rPr>
              <a:t>先把边界做窄，再扩大自动化半径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98448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87C"/>
                </a:solidFill>
                <a:latin typeface="Microsoft YaHei"/>
              </a:rPr>
              <a:t>企业不缺“更聪明的聊天框”，缺的是可控、可验证、能沉淀的执行链路。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38912"/>
            <a:ext cx="6583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87C"/>
                </a:solidFill>
                <a:latin typeface="Microsoft YaHei"/>
              </a:rPr>
              <a:t>2/2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28800"/>
            <a:ext cx="3154680" cy="4069080"/>
          </a:xfrm>
          <a:prstGeom prst="rect">
            <a:avLst/>
          </a:prstGeom>
          <a:solidFill>
            <a:srgbClr val="08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848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落地原则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578608"/>
            <a:ext cx="25146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不接任意 shell。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不绕过权限。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不跳过确认。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不丢审计记录。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806440"/>
            <a:ext cx="31546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24528" y="1828800"/>
            <a:ext cx="29718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24528" y="1828800"/>
            <a:ext cx="57150" cy="62179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1947672"/>
            <a:ext cx="2569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知识层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2359152"/>
            <a:ext cx="2569464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334155"/>
                </a:solidFill>
                <a:latin typeface="Microsoft YaHei"/>
              </a:defRPr>
            </a:pPr>
            <a:r>
              <a:t>文档 / 代码 / 插件 / 日志 / 项目状态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15000" y="2450592"/>
            <a:ext cx="0" cy="137160"/>
          </a:xfrm>
          <a:prstGeom prst="line">
            <a:avLst/>
          </a:prstGeom>
          <a:ln w="17780">
            <a:solidFill>
              <a:srgbClr val="D2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24528" y="2651760"/>
            <a:ext cx="29718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24528" y="2651760"/>
            <a:ext cx="57150" cy="6217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3984" y="2770632"/>
            <a:ext cx="2569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推理层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4" y="3182112"/>
            <a:ext cx="2569464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334155"/>
                </a:solidFill>
                <a:latin typeface="Microsoft YaHei"/>
              </a:defRPr>
            </a:pPr>
            <a:r>
              <a:t>LLM 理解意图，提出下一步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15000" y="3273552"/>
            <a:ext cx="0" cy="137160"/>
          </a:xfrm>
          <a:prstGeom prst="line">
            <a:avLst/>
          </a:prstGeom>
          <a:ln w="17780">
            <a:solidFill>
              <a:srgbClr val="D2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224528" y="3474720"/>
            <a:ext cx="29718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24528" y="3474720"/>
            <a:ext cx="57150" cy="6217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3984" y="3593592"/>
            <a:ext cx="2569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编排层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4" y="4005072"/>
            <a:ext cx="2569464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334155"/>
                </a:solidFill>
                <a:latin typeface="Microsoft YaHei"/>
              </a:defRPr>
            </a:pPr>
            <a:r>
              <a:t>状态机、权限、确认、循环上限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15000" y="4096512"/>
            <a:ext cx="0" cy="137160"/>
          </a:xfrm>
          <a:prstGeom prst="line">
            <a:avLst/>
          </a:prstGeom>
          <a:ln w="17780">
            <a:solidFill>
              <a:srgbClr val="D2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224528" y="4297680"/>
            <a:ext cx="29718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24528" y="4297680"/>
            <a:ext cx="57150" cy="6217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43984" y="4416552"/>
            <a:ext cx="2569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执行层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3984" y="4828032"/>
            <a:ext cx="2569464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334155"/>
                </a:solidFill>
                <a:latin typeface="Microsoft YaHei"/>
              </a:defRPr>
            </a:pPr>
            <a:r>
              <a:t>白名单 tool_call，写操作可撤销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1856232"/>
            <a:ext cx="749808" cy="256032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现在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181051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icrosoft YaHei"/>
              </a:rPr>
              <a:t>助手化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2084832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5B687C"/>
                </a:solidFill>
                <a:latin typeface="Microsoft YaHei"/>
              </a:rPr>
              <a:t>问答、解释、定位入口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101583" y="2231136"/>
            <a:ext cx="0" cy="283464"/>
          </a:xfrm>
          <a:prstGeom prst="line">
            <a:avLst/>
          </a:prstGeom>
          <a:ln w="17780">
            <a:solidFill>
              <a:srgbClr val="D2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726679" y="2734056"/>
            <a:ext cx="749808" cy="25603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下一步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268833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icrosoft YaHei"/>
              </a:rPr>
              <a:t>工具化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2962656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5B687C"/>
                </a:solidFill>
                <a:latin typeface="Microsoft YaHei"/>
              </a:rPr>
              <a:t>生成配置草案，人工确认后执行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101583" y="3108960"/>
            <a:ext cx="0" cy="283464"/>
          </a:xfrm>
          <a:prstGeom prst="line">
            <a:avLst/>
          </a:prstGeom>
          <a:ln w="17780">
            <a:solidFill>
              <a:srgbClr val="D2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726679" y="3611880"/>
            <a:ext cx="749808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再下一步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35661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icrosoft YaHei"/>
              </a:rPr>
              <a:t>流程化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080" y="3840480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5B687C"/>
                </a:solidFill>
                <a:latin typeface="Microsoft YaHei"/>
              </a:rPr>
              <a:t>自动跑验证，输出问题清单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01583" y="3986784"/>
            <a:ext cx="0" cy="283464"/>
          </a:xfrm>
          <a:prstGeom prst="line">
            <a:avLst/>
          </a:prstGeom>
          <a:ln w="17780">
            <a:solidFill>
              <a:srgbClr val="D2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726679" y="4489703"/>
            <a:ext cx="749808" cy="256032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长期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080" y="4443983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icrosoft YaHei"/>
              </a:rPr>
              <a:t>组织化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80" y="4718303"/>
            <a:ext cx="2697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5B687C"/>
                </a:solidFill>
                <a:latin typeface="Microsoft YaHei"/>
              </a:rPr>
              <a:t>评测集、知识库、权限策略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24528" y="5330952"/>
            <a:ext cx="711403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24528" y="5330952"/>
            <a:ext cx="57150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43984" y="5449824"/>
            <a:ext cx="67116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11827"/>
                </a:solidFill>
                <a:latin typeface="Microsoft YaHei"/>
              </a:rPr>
              <a:t>路线判断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43984" y="5861304"/>
            <a:ext cx="6711696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20">
                <a:solidFill>
                  <a:srgbClr val="334155"/>
                </a:solidFill>
                <a:latin typeface="Microsoft YaHei"/>
              </a:defRPr>
            </a:pPr>
            <a:r>
              <a:t>先做低风险、高频、可审计的工作流；等评测和权限体系稳定，再让 Agent 接管更长链路。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